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4050" y="954137"/>
            <a:ext cx="1015901" cy="1015901"/>
          </a:xfrm>
          <a:prstGeom prst="roundRect">
            <a:avLst>
              <a:gd name="adj" fmla="val 150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8790" y="1228725"/>
            <a:ext cx="5064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9831" y="2351038"/>
            <a:ext cx="656433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Integration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273679" y="3246388"/>
            <a:ext cx="459649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Requirements Document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775784" y="3979813"/>
            <a:ext cx="15924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19, 2024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277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Opportunity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33177"/>
            <a:ext cx="3905399" cy="1474291"/>
          </a:xfrm>
          <a:prstGeom prst="roundRect">
            <a:avLst>
              <a:gd name="adj" fmla="val 68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133177"/>
            <a:ext cx="0" cy="1474291"/>
          </a:xfrm>
          <a:prstGeom prst="line">
            <a:avLst/>
          </a:prstGeom>
          <a:noFill/>
          <a:ln w="7620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4650" y="1323677"/>
            <a:ext cx="35171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4650" y="1634728"/>
            <a:ext cx="3517163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lack native calendar integration, forcing manual deadline tracking across multiple tools. This causes missed deadlines, duplicated effort, and constant context-switching.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759869"/>
            <a:ext cx="3905399" cy="1278731"/>
          </a:xfrm>
          <a:prstGeom prst="roundRect">
            <a:avLst>
              <a:gd name="adj" fmla="val 79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6050" y="2759869"/>
            <a:ext cx="0" cy="1278731"/>
          </a:xfrm>
          <a:prstGeom prst="line">
            <a:avLst/>
          </a:prstGeom>
          <a:noFill/>
          <a:ln w="76200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4650" y="2950369"/>
            <a:ext cx="35171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4650" y="3261420"/>
            <a:ext cx="3517163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integration is the #1 user request. It positions TaskFlow competitively vs Jira and Asana, improves retention, and drives enterprise adoption.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0800" y="3337917"/>
            <a:ext cx="3905399" cy="1551682"/>
          </a:xfrm>
          <a:prstGeom prst="roundRect">
            <a:avLst>
              <a:gd name="adj" fmla="val 6548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24918" y="3566517"/>
            <a:ext cx="3517163" cy="67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32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924918" y="4305598"/>
            <a:ext cx="351716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surveyed users rated calendar integration as a high-priority need (4-5/5)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277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33177"/>
            <a:ext cx="1473250" cy="1133475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7528" y="1323677"/>
            <a:ext cx="111409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7528" y="1809452"/>
            <a:ext cx="11140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adoption within 90 days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71700" y="1133177"/>
            <a:ext cx="1473250" cy="1133475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51278" y="1323677"/>
            <a:ext cx="111409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351278" y="1809452"/>
            <a:ext cx="11140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missed deadlines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35450" y="1133177"/>
            <a:ext cx="1473250" cy="1133475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15027" y="1323677"/>
            <a:ext cx="111409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015027" y="1809452"/>
            <a:ext cx="11140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daily active usage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99199" y="1133177"/>
            <a:ext cx="1473250" cy="1133475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78777" y="1323677"/>
            <a:ext cx="111409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78777" y="1809452"/>
            <a:ext cx="11140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improvement points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62949" y="1133177"/>
            <a:ext cx="1473250" cy="1133475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42526" y="1323677"/>
            <a:ext cx="111409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42526" y="1809452"/>
            <a:ext cx="11140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deals influenced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Research Highlights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38225"/>
            <a:ext cx="3937099" cy="577751"/>
          </a:xfrm>
          <a:prstGeom prst="roundRect">
            <a:avLst>
              <a:gd name="adj" fmla="val 131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165175"/>
            <a:ext cx="6475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85751" y="1255663"/>
            <a:ext cx="24332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rated interest at 4-5 out of 5 (average: 4.1)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1742926"/>
            <a:ext cx="3937099" cy="577751"/>
          </a:xfrm>
          <a:prstGeom prst="roundRect">
            <a:avLst>
              <a:gd name="adj" fmla="val 131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8450" y="1869877"/>
            <a:ext cx="6475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85751" y="1960364"/>
            <a:ext cx="2397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Google Calendar as primary calendar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2447627"/>
            <a:ext cx="3937099" cy="549176"/>
          </a:xfrm>
          <a:prstGeom prst="roundRect">
            <a:avLst>
              <a:gd name="adj" fmla="val 13875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8450" y="2574578"/>
            <a:ext cx="5184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59098" y="2650778"/>
            <a:ext cx="16917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concern: Calendar clutter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950" y="1038225"/>
            <a:ext cx="3937099" cy="1760637"/>
          </a:xfrm>
          <a:prstGeom prst="roundRect">
            <a:avLst>
              <a:gd name="adj" fmla="val 43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51350" y="1190625"/>
            <a:ext cx="37049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Pain Points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51350" y="1463576"/>
            <a:ext cx="3632299" cy="5015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effort keeping systems in sync (7 mentions)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deadlines from lack of visibility (5 mentions)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context switching between apps (4 mentions)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98950" y="2925812"/>
            <a:ext cx="3937099" cy="1760637"/>
          </a:xfrm>
          <a:prstGeom prst="roundRect">
            <a:avLst>
              <a:gd name="adj" fmla="val 43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51350" y="3078212"/>
            <a:ext cx="37049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 Requests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51350" y="3351163"/>
            <a:ext cx="3632299" cy="5015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Two-way sync between TaskFlow and calendar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deadline event creation</a:t>
            </a:r>
            <a:endParaRPr lang="en-US" sz="900" dirty="0"/>
          </a:p>
          <a:p>
            <a:pPr algn="l" marL="88900" indent="-88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visibility into shared deadlines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277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Segments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33177"/>
            <a:ext cx="2540050" cy="27982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171277"/>
            <a:ext cx="2540050" cy="0"/>
          </a:xfrm>
          <a:prstGeom prst="line">
            <a:avLst/>
          </a:prstGeom>
          <a:noFill/>
          <a:ln w="7620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5722" y="1437977"/>
            <a:ext cx="2124507" cy="52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15722" y="2067818"/>
            <a:ext cx="2124507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5722" y="2349698"/>
            <a:ext cx="21245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PMs, Team Leads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5722" y="2667000"/>
            <a:ext cx="2124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Need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5722" y="2860625"/>
            <a:ext cx="212450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two-way sync with automation capabilities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5722" y="3259187"/>
            <a:ext cx="2124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Concern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5722" y="3452813"/>
            <a:ext cx="212450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of sync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01901" y="1133177"/>
            <a:ext cx="2540050" cy="26497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01901" y="1171277"/>
            <a:ext cx="2540050" cy="0"/>
          </a:xfrm>
          <a:prstGeom prst="line">
            <a:avLst/>
          </a:prstGeom>
          <a:noFill/>
          <a:ln w="76200">
            <a:solidFill>
              <a:srgbClr val="2778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9672" y="1437977"/>
            <a:ext cx="2124507" cy="52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509672" y="2067818"/>
            <a:ext cx="2124507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09672" y="2349698"/>
            <a:ext cx="21245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Managers, Directors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09672" y="2667000"/>
            <a:ext cx="2124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Need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09672" y="2860625"/>
            <a:ext cx="212450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visibility and capacity planning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09672" y="3110657"/>
            <a:ext cx="2124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Concern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09672" y="3304282"/>
            <a:ext cx="212450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privacy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95851" y="1133177"/>
            <a:ext cx="2540050" cy="26497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095851" y="1171277"/>
            <a:ext cx="2540050" cy="0"/>
          </a:xfrm>
          <a:prstGeom prst="line">
            <a:avLst/>
          </a:prstGeom>
          <a:noFill/>
          <a:ln w="76200">
            <a:solidFill>
              <a:srgbClr val="5EA8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3623" y="1437977"/>
            <a:ext cx="2124507" cy="52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303623" y="2067818"/>
            <a:ext cx="2124507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Contributors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3623" y="2349698"/>
            <a:ext cx="21245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Developers, Designers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3623" y="2667000"/>
            <a:ext cx="2124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Need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3623" y="2860625"/>
            <a:ext cx="212450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deadline visibility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3623" y="3110657"/>
            <a:ext cx="2124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Concern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3623" y="3304282"/>
            <a:ext cx="212450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Clutter and complexity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3182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Scope (Phase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631775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functionality for initial release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260425"/>
            <a:ext cx="3968800" cy="1396901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425625"/>
            <a:ext cx="378172" cy="164902"/>
          </a:xfrm>
          <a:prstGeom prst="roundRect">
            <a:avLst>
              <a:gd name="adj" fmla="val 23105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6550" y="1450925"/>
            <a:ext cx="2302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0350" y="1666726"/>
            <a:ext cx="3737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 Connection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0350" y="1895326"/>
            <a:ext cx="3664000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authentication flow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Workspace and Gmail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permission scopes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disconnect option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7950" y="2809726"/>
            <a:ext cx="3968800" cy="1396901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350" y="2974925"/>
            <a:ext cx="378172" cy="164902"/>
          </a:xfrm>
          <a:prstGeom prst="roundRect">
            <a:avLst>
              <a:gd name="adj" fmla="val 23105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6550" y="3000226"/>
            <a:ext cx="2302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0350" y="3216027"/>
            <a:ext cx="3737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One-Way Sync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0350" y="3444627"/>
            <a:ext cx="3664000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 create calendar events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include title, project, link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Auto-update on deadline change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Auto-delete on completion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67250" y="1260425"/>
            <a:ext cx="3968800" cy="1396901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9650" y="1425625"/>
            <a:ext cx="378172" cy="164902"/>
          </a:xfrm>
          <a:prstGeom prst="roundRect">
            <a:avLst>
              <a:gd name="adj" fmla="val 23105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95850" y="1450925"/>
            <a:ext cx="2302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19650" y="1666726"/>
            <a:ext cx="3737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Configuration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9650" y="1895326"/>
            <a:ext cx="3664000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sync on/off toggle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project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priority level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task assignment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7250" y="2809726"/>
            <a:ext cx="3968800" cy="1244501"/>
          </a:xfrm>
          <a:prstGeom prst="roundRect">
            <a:avLst>
              <a:gd name="adj" fmla="val 61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9650" y="2974925"/>
            <a:ext cx="378172" cy="164902"/>
          </a:xfrm>
          <a:prstGeom prst="roundRect">
            <a:avLst>
              <a:gd name="adj" fmla="val 23105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95850" y="3000226"/>
            <a:ext cx="2302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19650" y="3216027"/>
            <a:ext cx="3737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Selection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19650" y="3444627"/>
            <a:ext cx="3664000" cy="419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target calendar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dedicated TaskFlow calendar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multiple calendars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4476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&amp; 3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361926"/>
            <a:ext cx="2497782" cy="3464123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361926"/>
            <a:ext cx="2497782" cy="863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1552426"/>
            <a:ext cx="20297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1851" y="1768227"/>
            <a:ext cx="20297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MVP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1851" y="2479328"/>
            <a:ext cx="1989981" cy="14472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 OAuth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One-way sync (TaskFlow to Calendar)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configuration filters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selection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23183" y="1361926"/>
            <a:ext cx="2497782" cy="3464123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23183" y="1361926"/>
            <a:ext cx="2497782" cy="863501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77084" y="1552426"/>
            <a:ext cx="20297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FOLLOW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77084" y="1768227"/>
            <a:ext cx="20297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77084" y="2479328"/>
            <a:ext cx="1989981" cy="14472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Two-way sync 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demand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integration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calendar view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resolution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38416" y="1361926"/>
            <a:ext cx="2497782" cy="3464123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38416" y="1361926"/>
            <a:ext cx="2497782" cy="863501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2317" y="1552426"/>
            <a:ext cx="20297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2317" y="1768227"/>
            <a:ext cx="20297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92317" y="2479328"/>
            <a:ext cx="1989981" cy="16604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Auto-block focus time 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time slots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Calendar integration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balancing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00125"/>
            <a:ext cx="1222772" cy="469702"/>
          </a:xfrm>
          <a:prstGeom prst="roundRect">
            <a:avLst>
              <a:gd name="adj" fmla="val 16223"/>
            </a:avLst>
          </a:prstGeom>
          <a:solidFill>
            <a:srgbClr val="FFFFFF"/>
          </a:solidFill>
          <a:ln w="19050">
            <a:solidFill>
              <a:srgbClr val="277884"/>
            </a:solidFill>
          </a:ln>
          <a:effectLst>
            <a:outerShdw sx="100000" sy="100000" kx="0" ky="0" algn="bl" rotWithShape="0" blurRad="381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0602" y="1120676"/>
            <a:ext cx="897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TaskFlow Backend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32223" y="1130201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11573" y="1000125"/>
            <a:ext cx="956518" cy="469702"/>
          </a:xfrm>
          <a:prstGeom prst="roundRect">
            <a:avLst>
              <a:gd name="adj" fmla="val 16223"/>
            </a:avLst>
          </a:prstGeom>
          <a:solidFill>
            <a:srgbClr val="FFFFFF"/>
          </a:solidFill>
          <a:ln w="19050">
            <a:solidFill>
              <a:srgbClr val="277884"/>
            </a:solidFill>
          </a:ln>
          <a:effectLst>
            <a:outerShdw sx="100000" sy="100000" kx="0" ky="0" algn="bl" rotWithShape="0" blurRad="381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76887" y="1120676"/>
            <a:ext cx="6258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Service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69593" y="1130201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48943" y="1000125"/>
            <a:ext cx="1319361" cy="469702"/>
          </a:xfrm>
          <a:prstGeom prst="roundRect">
            <a:avLst>
              <a:gd name="adj" fmla="val 16223"/>
            </a:avLst>
          </a:prstGeom>
          <a:solidFill>
            <a:srgbClr val="5EA8A7"/>
          </a:solidFill>
          <a:ln w="19050">
            <a:solidFill>
              <a:srgbClr val="277884"/>
            </a:solidFill>
          </a:ln>
          <a:effectLst>
            <a:outerShdw sx="100000" sy="100000" kx="0" ky="0" algn="bl" rotWithShape="0" blurRad="381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10628" y="1120676"/>
            <a:ext cx="9959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 API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55266" y="1698278"/>
            <a:ext cx="918567" cy="469702"/>
          </a:xfrm>
          <a:prstGeom prst="roundRect">
            <a:avLst>
              <a:gd name="adj" fmla="val 16223"/>
            </a:avLst>
          </a:prstGeom>
          <a:solidFill>
            <a:srgbClr val="F4F6F6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20960" y="1818829"/>
            <a:ext cx="5871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20960" y="1933129"/>
            <a:ext cx="5871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(sync config)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64334" y="1698278"/>
            <a:ext cx="856655" cy="469702"/>
          </a:xfrm>
          <a:prstGeom prst="roundRect">
            <a:avLst>
              <a:gd name="adj" fmla="val 16223"/>
            </a:avLst>
          </a:prstGeom>
          <a:solidFill>
            <a:srgbClr val="F4F6F6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930646" y="1818829"/>
            <a:ext cx="524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30646" y="1933129"/>
            <a:ext cx="524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(job queue)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85755" y="1000125"/>
            <a:ext cx="3550295" cy="1006376"/>
          </a:xfrm>
          <a:prstGeom prst="roundRect">
            <a:avLst>
              <a:gd name="adj" fmla="val 75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38155" y="1152525"/>
            <a:ext cx="33104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38155" y="1396901"/>
            <a:ext cx="3245495" cy="419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calendar_connections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OAuth tokens, calendar IDs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sync_settings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Filters, preferences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sync_events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Task to event mapping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85755" y="2133451"/>
            <a:ext cx="3550295" cy="1311176"/>
          </a:xfrm>
          <a:prstGeom prst="roundRect">
            <a:avLst>
              <a:gd name="adj" fmla="val 58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38155" y="2285851"/>
            <a:ext cx="33104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38155" y="2530227"/>
            <a:ext cx="3245495" cy="723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latency under 5 minutes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 sync success rate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with minimal scopes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compliant data handling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GDPR-compliant consent flow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00125"/>
            <a:ext cx="8128099" cy="76185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127075"/>
            <a:ext cx="76200" cy="507950"/>
          </a:xfrm>
          <a:prstGeom prst="roundRect">
            <a:avLst>
              <a:gd name="adj" fmla="val 5000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5150" y="1219051"/>
            <a:ext cx="53980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Clutter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5150" y="1409551"/>
            <a:ext cx="53980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overwhelmed by too many events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47830" y="1165175"/>
            <a:ext cx="1997720" cy="431602"/>
          </a:xfrm>
          <a:prstGeom prst="roundRect">
            <a:avLst>
              <a:gd name="adj" fmla="val 1177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0230" y="1266676"/>
            <a:ext cx="1726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600230" y="1380976"/>
            <a:ext cx="1726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defaults: my tasks, high priority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1863477"/>
            <a:ext cx="8128099" cy="76185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8450" y="1990427"/>
            <a:ext cx="76200" cy="50795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5150" y="2082403"/>
            <a:ext cx="53631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Conflicts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5150" y="2272903"/>
            <a:ext cx="53631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Two-way sync may cause data conflicts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13599" y="2028527"/>
            <a:ext cx="2031950" cy="431602"/>
          </a:xfrm>
          <a:prstGeom prst="roundRect">
            <a:avLst>
              <a:gd name="adj" fmla="val 1177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65999" y="2130028"/>
            <a:ext cx="17616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65999" y="2244328"/>
            <a:ext cx="17616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with careful conflict resolution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7950" y="2726829"/>
            <a:ext cx="8128099" cy="76185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8450" y="2853779"/>
            <a:ext cx="76200" cy="50795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65150" y="2945755"/>
            <a:ext cx="57429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Rate Limits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5150" y="3136255"/>
            <a:ext cx="57429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API quotas may limit sync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85967" y="2891879"/>
            <a:ext cx="1659582" cy="431602"/>
          </a:xfrm>
          <a:prstGeom prst="roundRect">
            <a:avLst>
              <a:gd name="adj" fmla="val 1177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38367" y="2993380"/>
            <a:ext cx="1381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38367" y="3107680"/>
            <a:ext cx="1381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Batching, queue management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7950" y="3590181"/>
            <a:ext cx="8128099" cy="76185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98450" y="3717131"/>
            <a:ext cx="76200" cy="50795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65150" y="3809107"/>
            <a:ext cx="55243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5150" y="3999607"/>
            <a:ext cx="55243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permission hesitation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71655" y="3755231"/>
            <a:ext cx="1873895" cy="431602"/>
          </a:xfrm>
          <a:prstGeom prst="roundRect">
            <a:avLst>
              <a:gd name="adj" fmla="val 1177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24055" y="3856732"/>
            <a:ext cx="16004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24055" y="3971032"/>
            <a:ext cx="16004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compliance, documentation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4476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361926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551" y="1530102"/>
            <a:ext cx="2331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06401" y="1415802"/>
            <a:ext cx="40677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Release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6401" y="1663452"/>
            <a:ext cx="40677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Invite-only, 10 internal/friendly users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201" y="2060377"/>
            <a:ext cx="25301" cy="1905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7950" y="225087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7551" y="2419052"/>
            <a:ext cx="2331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06401" y="2304752"/>
            <a:ext cx="40677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GA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6401" y="2552402"/>
            <a:ext cx="40677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of users via feature flag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201" y="2949327"/>
            <a:ext cx="25301" cy="1905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7950" y="313982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7551" y="3308003"/>
            <a:ext cx="2331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06401" y="3193703"/>
            <a:ext cx="40677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06401" y="3441353"/>
            <a:ext cx="40677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rollout to all users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201" y="3838277"/>
            <a:ext cx="25301" cy="1905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7950" y="402877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5135" y="4196953"/>
            <a:ext cx="3197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06401" y="4082653"/>
            <a:ext cx="40677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Push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06401" y="4330303"/>
            <a:ext cx="40677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post, email announcement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11850" y="1361926"/>
            <a:ext cx="3124200" cy="1504504"/>
          </a:xfrm>
          <a:prstGeom prst="roundRect">
            <a:avLst>
              <a:gd name="adj" fmla="val 67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02350" y="1552426"/>
            <a:ext cx="27980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Criteria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02350" y="1850827"/>
            <a:ext cx="2743200" cy="7617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internal/friendly users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week usage period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 5 P1 bugs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than 80% sync success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1850" y="3056930"/>
            <a:ext cx="3124200" cy="1504504"/>
          </a:xfrm>
          <a:prstGeom prst="roundRect">
            <a:avLst>
              <a:gd name="adj" fmla="val 67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702350" y="3247430"/>
            <a:ext cx="27980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Criteria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02350" y="3545830"/>
            <a:ext cx="2743200" cy="7617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P1/P2 bugs resolved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 sync success rate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complete</a:t>
            </a:r>
            <a:endParaRPr lang="en-US" sz="1000" dirty="0"/>
          </a:p>
          <a:p>
            <a:pPr algn="l" marL="88900" indent="-88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team trained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38225"/>
            <a:ext cx="3968800" cy="634603"/>
          </a:xfrm>
          <a:prstGeom prst="roundRect">
            <a:avLst>
              <a:gd name="adj" fmla="val 12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19062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9980" y="1246138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9302" y="1190625"/>
            <a:ext cx="3271087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we support multiple calendar connections per user?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799779"/>
            <a:ext cx="3968800" cy="634603"/>
          </a:xfrm>
          <a:prstGeom prst="roundRect">
            <a:avLst>
              <a:gd name="adj" fmla="val 12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8450" y="195217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9980" y="200769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9302" y="1952179"/>
            <a:ext cx="3271087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right default reminder time for deadline events?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561332"/>
            <a:ext cx="3968800" cy="558701"/>
          </a:xfrm>
          <a:prstGeom prst="roundRect">
            <a:avLst>
              <a:gd name="adj" fmla="val 13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8450" y="271373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9980" y="276924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9302" y="2713732"/>
            <a:ext cx="273597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handle tasks with no deadline date?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7250" y="1038225"/>
            <a:ext cx="3968800" cy="634603"/>
          </a:xfrm>
          <a:prstGeom prst="roundRect">
            <a:avLst>
              <a:gd name="adj" fmla="val 12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57750" y="119062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49279" y="1246138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38601" y="1190625"/>
            <a:ext cx="3271087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completed tasks remain on calendar or auto-delete?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7250" y="1799779"/>
            <a:ext cx="3968800" cy="634603"/>
          </a:xfrm>
          <a:prstGeom prst="roundRect">
            <a:avLst>
              <a:gd name="adj" fmla="val 12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57750" y="195217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49279" y="200769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38601" y="1952179"/>
            <a:ext cx="3271087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we need admin controls to disable calendar sync for enterprise?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4476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5050" y="1361926"/>
            <a:ext cx="7873752" cy="3301752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8950" y="1615827"/>
          <a:ext cx="7365950" cy="279395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371600"/>
                <a:gridCol w="1371600"/>
              </a:tblGrid>
              <a:tr h="3991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TaskFlow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Asana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</a:tr>
              <a:tr h="3991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Calendar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EA8A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1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1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Two-way Sync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1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Calendar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1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Filters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EA8A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1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Time Blocking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E44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Calendar Integration PRD</dc:title>
  <dc:subject>Product Requirements Document</dc:subject>
  <dc:creator>TaskFlow Product Team</dc:creator>
  <cp:lastModifiedBy>TaskFlow Product Team</cp:lastModifiedBy>
  <cp:revision>1</cp:revision>
  <dcterms:created xsi:type="dcterms:W3CDTF">2025-12-19T23:02:46Z</dcterms:created>
  <dcterms:modified xsi:type="dcterms:W3CDTF">2025-12-19T23:02:46Z</dcterms:modified>
</cp:coreProperties>
</file>